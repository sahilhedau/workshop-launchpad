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1: TARGET AUDIENCE &amp; VALUE PROPOSITION</a:t>
            </a:r>
          </a:p>
          <a:p>
            <a:r>
              <a:t>Key Talking Points:</a:t>
            </a:r>
          </a:p>
          <a:p>
            <a:r>
              <a:t>1. Target Persona: Final-year B.Tech/BE students (CSE, IT, ECE, AI/DS) facing campus placements, particularly across tier-2 and tier-3 colleges.</a:t>
            </a:r>
          </a:p>
          <a:p>
            <a:r>
              <a:t>2. The Core Bottleneck: Students have AI coursework on their resumes, but zero deployed projects that impress technical interviewers.</a:t>
            </a:r>
          </a:p>
          <a:p>
            <a:r>
              <a:t>3. The High-Converting Promise: Not a generic webinar or passive lecture. In exactly 60 minutes, students build, test, and deploy a real working AI project to put directly on their GitHub and resume.</a:t>
            </a:r>
          </a:p>
          <a:p>
            <a:r>
              <a:t>4. Growth Mindset: Everything presented here is a hypothesis designed for rapid validation within the first 48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2: THREE-CHANNEL DISTRIBUTION STRATEGY</a:t>
            </a:r>
          </a:p>
          <a:p>
            <a:r>
              <a:t>Key Talking Points:</a:t>
            </a:r>
          </a:p>
          <a:p>
            <a:r>
              <a:t>1. Channel A - WhatsApp Connectors (Target: 250 regs): Peer distribution beats brand posts. 10 campus connectors post vetted copy into placement groups. Connector incentive: ₹50 thank-you per connector once they reach 15+ registrations (performance-gated).</a:t>
            </a:r>
          </a:p>
          <a:p>
            <a:r>
              <a:t>2. Channel B - Clubs &amp; Communities (Target: 140 regs): Coding clubs and student chapters receive a customized 30-second live build teaser.</a:t>
            </a:r>
          </a:p>
          <a:p>
            <a:r>
              <a:t>3. Channel C - Referral Viral Loop (Target: 117 regs): Registrants receive an immediate invite link on the confirmation screen to unlock an AI Placement Toolkit. 25% share rate × 1.2 sign-ups = K-factor of 0.30.</a:t>
            </a:r>
          </a:p>
          <a:p>
            <a:r>
              <a:t>4. Capital Efficiency: ₹800 (40% of total budget) is held strictly in reserve as a conditional paid test only if Day 4 pacing 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3: 7-DAY MILESTONE SCHEDULE &amp; ₹2,000 BUDGET</a:t>
            </a:r>
          </a:p>
          <a:p>
            <a:r>
              <a:t>Key Talking Points:</a:t>
            </a:r>
          </a:p>
          <a:p>
            <a:r>
              <a:t>1. Cumulative Milestone Curve: 40 (D1) -&gt; 120 (D2) -&gt; 210 (D3) -&gt; 300 (D4) -&gt; 390 (D5) -&gt; 450 (D6) -&gt; 500 (D7).</a:t>
            </a:r>
          </a:p>
          <a:p>
            <a:r>
              <a:t>2. The Critical Day 4 Checkpoint: Day 4 target is 300 cumulative registrations. 90% pacing threshold is 270. If we are under 270 on Day 4, contingency triggers fire immediately.</a:t>
            </a:r>
          </a:p>
          <a:p>
            <a:r>
              <a:t>3. Strict Budget Allocation: ₹500 for connectors, ₹600 for referral leaderboard prizes (₹300/₹200/₹100), ₹800 paid reserve, ₹100 payment buffer = ₹2,000 total.</a:t>
            </a:r>
          </a:p>
          <a:p>
            <a:r>
              <a:t>4. Unit Economics: Effective CAC at 500 registrations is exactly ₹4.00 per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4: FUNNEL ARITHMETIC &amp; CONTINGENCY ENGINE</a:t>
            </a:r>
          </a:p>
          <a:p>
            <a:r>
              <a:t>Key Talking Points:</a:t>
            </a:r>
          </a:p>
          <a:p>
            <a:r>
              <a:t>1. Funnel Mathematics:</a:t>
            </a:r>
          </a:p>
          <a:p>
            <a:r>
              <a:t>   - Direct Acquisition (Wave 1): WhatsApp (5,000 @ 5% = 250) + Clubs (3,500 @ 4% = 140) = 390 registrations.</a:t>
            </a:r>
          </a:p>
          <a:p>
            <a:r>
              <a:t>   - Referral Amplification (Wave 2): 390 × 25% share rate × 1.2 sign-ups = 117 registrations.</a:t>
            </a:r>
          </a:p>
          <a:p>
            <a:r>
              <a:t>   - Total Organic Base Case = 507 registrations (+7 buffer over 500 goal).</a:t>
            </a:r>
          </a:p>
          <a:p>
            <a:r>
              <a:t>2. Pre-Committed Decision Triggers:</a:t>
            </a:r>
          </a:p>
          <a:p>
            <a:r>
              <a:t>   - Day 4 Behind (&lt;270): Deploy ₹800 Meta/Instagram paid ad targeting final-year engineers in tier-2/3 colleges (est. 40-50 regs @ ₹16-20 CPL), onboard 5 replacement connectors in zero-registration colleges.</a:t>
            </a:r>
          </a:p>
          <a:p>
            <a:r>
              <a:t>   - Day 6 Behind: Switch all messaging to 24-hour urgency ("Workshop closes tonight"), direct connector outreach, and spot cash prizes.</a:t>
            </a:r>
          </a:p>
          <a:p>
            <a:r>
              <a:t>   - Ahead of Pace: Protect the ₹800 cash reserve and reinvest effort into live workshop attendance reminders.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5: WORKSHOP LAUNCHPAD PRODUCT DEMONSTRATION</a:t>
            </a:r>
          </a:p>
          <a:p>
            <a:r>
              <a:t>Key Talking Points:</a:t>
            </a:r>
          </a:p>
          <a:p>
            <a:r>
              <a:t>1. Why Build a Tool? Growth engineers build systems, not just spreadsheets. Workshop Launchpad gives the campaign owner live visibility into pacing and attribution.</a:t>
            </a:r>
          </a:p>
          <a:p>
            <a:r>
              <a:t>2. Link Studio: Generates unique collision-resistant codes, UTM campaign URLs, and multi-angle WhatsApp messaging templates.</a:t>
            </a:r>
          </a:p>
          <a:p>
            <a:r>
              <a:t>3. Registration Demo Gateway: A real student registration experience that captures attribution, logs the lead, and provides the student their own viral invite link.</a:t>
            </a:r>
          </a:p>
          <a:p>
            <a:r>
              <a:t>4. Live Dashboard: Real-time actual vs. target SVG pacing curve, daily ingestion breakdown, referral leaderboard, and automatic contingency trigger warnings.</a:t>
            </a:r>
          </a:p>
          <a:p>
            <a:r>
              <a:t>5. Funnel Model: Live recalculation with K-factor viral multiplier and paid reserve toggle.</a:t>
            </a:r>
          </a:p>
          <a:p>
            <a:r>
              <a:t>6. Architecture: Built with a lightweight zero-dependency Node.js REST API with file persistence, fully runnable standalone or client-server.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711200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1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83360"/>
            <a:ext cx="10566400" cy="456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1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711200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1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83360"/>
            <a:ext cx="10566400" cy="456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1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EC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 final-years registered in 7 days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12800" y="149987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5A5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workshop: “Build Your First AI Project in 60 Minutes”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5975" y="2033905"/>
            <a:ext cx="3397250" cy="1719580"/>
          </a:xfrm>
          <a:prstGeom prst="roundRect">
            <a:avLst>
              <a:gd name="adj" fmla="val 5724"/>
            </a:avLst>
          </a:prstGeom>
          <a:solidFill>
            <a:srgbClr val="1F2347"/>
          </a:solidFill>
          <a:ln w="6350">
            <a:solidFill>
              <a:srgbClr val="2B2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264410"/>
            <a:ext cx="30243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A5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6480" y="2597150"/>
            <a:ext cx="3024327" cy="719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EC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Final-year B.Tech/BE students (CSE, IT, ECE, AI/DS) in placement season, mostly tier-2/3 colleges.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7375" y="2033905"/>
            <a:ext cx="3397250" cy="1719580"/>
          </a:xfrm>
          <a:prstGeom prst="roundRect">
            <a:avLst>
              <a:gd name="adj" fmla="val 5724"/>
            </a:avLst>
          </a:prstGeom>
          <a:solidFill>
            <a:srgbClr val="1F2347"/>
          </a:solidFill>
          <a:ln w="6350">
            <a:solidFill>
              <a:srgbClr val="2B2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7880" y="2264410"/>
            <a:ext cx="30243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A5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(hypothesis)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27880" y="2597150"/>
            <a:ext cx="3024327" cy="951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EC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 resume says “AI” but shows no shipped project. Generic webinars get ignored because the outcome is vague.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78775" y="2033905"/>
            <a:ext cx="3397250" cy="1719580"/>
          </a:xfrm>
          <a:prstGeom prst="roundRect">
            <a:avLst>
              <a:gd name="adj" fmla="val 5724"/>
            </a:avLst>
          </a:prstGeom>
          <a:solidFill>
            <a:srgbClr val="1F2347"/>
          </a:solidFill>
          <a:ln w="6350">
            <a:solidFill>
              <a:srgbClr val="2B2F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9280" y="2264410"/>
            <a:ext cx="30243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A5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09280" y="2597150"/>
            <a:ext cx="3024327" cy="719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EC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in 60 minutes with a working AI project you can show recruiters. Free, live, hands-on.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0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9F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₹2,000 · 7 days · all projections are hypotheses to validate, not results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1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channels, one message: “Ship an AI project before your next interview”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877695"/>
            <a:ext cx="3397250" cy="1951037"/>
          </a:xfrm>
          <a:prstGeom prst="roundRect">
            <a:avLst>
              <a:gd name="adj" fmla="val 5045"/>
            </a:avLst>
          </a:prstGeom>
          <a:solidFill>
            <a:srgbClr val="FFFFFF"/>
          </a:solidFill>
          <a:ln w="6350">
            <a:solidFill>
              <a:srgbClr val="E3E5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2108200"/>
            <a:ext cx="30243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Campus WhatsApp groups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6480" y="2440940"/>
            <a:ext cx="3024327" cy="118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41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student connectors forward a ready-made message and poster into placement and department groups. Peer trust beats a brand post. Metric: registrations per connector (goal 15+).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97375" y="1877695"/>
            <a:ext cx="3397250" cy="1951037"/>
          </a:xfrm>
          <a:prstGeom prst="roundRect">
            <a:avLst>
              <a:gd name="adj" fmla="val 5045"/>
            </a:avLst>
          </a:prstGeom>
          <a:solidFill>
            <a:srgbClr val="FFFFFF"/>
          </a:solidFill>
          <a:ln w="6350">
            <a:solidFill>
              <a:srgbClr val="E3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27880" y="2108200"/>
            <a:ext cx="30243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Clubs and communities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27880" y="2440940"/>
            <a:ext cx="3024327" cy="951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41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Coding clubs, GDSC-style chapters, Discord and LinkedIn groups get a short pitch plus a 30-second demo clip. Metric: sign-ups per community.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78775" y="1877695"/>
            <a:ext cx="3397250" cy="1951037"/>
          </a:xfrm>
          <a:prstGeom prst="roundRect">
            <a:avLst>
              <a:gd name="adj" fmla="val 5045"/>
            </a:avLst>
          </a:prstGeom>
          <a:solidFill>
            <a:srgbClr val="FFFFFF"/>
          </a:solidFill>
          <a:ln w="6350">
            <a:solidFill>
              <a:srgbClr val="E3E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09280" y="2108200"/>
            <a:ext cx="30243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Referral loop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09280" y="2440940"/>
            <a:ext cx="3024327" cy="951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41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registrant gets a personal link. Top 3 referrers win prizes. Metric: share rate (goal 25%) and sign-ups per sharer.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1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is not a main channel: ₹800 sits in reserve and is only used if Day 4 is behind pace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1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days and ₹2,000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17321"/>
          <a:ext cx="6339840" cy="3986530"/>
        </p:xfrm>
        <a:graphic>
          <a:graphicData uri="http://schemas.openxmlformats.org/drawingml/2006/table">
            <a:tbl>
              <a:tblPr/>
              <a:tblGrid>
                <a:gridCol w="2113280"/>
                <a:gridCol w="2113280"/>
                <a:gridCol w="2113280"/>
              </a:tblGrid>
              <a:tr h="3594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Cumulative goal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</a:tr>
              <a:tr h="58166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kit, recruit 10 connectors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66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Wave 1: connectors post in groups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66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Wave 2: clubs and communities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66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Checkpoint; fallback if under 270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66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Referral prize push, proof post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“Closes tomorrow” urgency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 call and reminders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26960" y="1417321"/>
          <a:ext cx="3799840" cy="3045460"/>
        </p:xfrm>
        <a:graphic>
          <a:graphicData uri="http://schemas.openxmlformats.org/drawingml/2006/table">
            <a:tbl>
              <a:tblPr/>
              <a:tblGrid>
                <a:gridCol w="1899920"/>
                <a:gridCol w="1899920"/>
              </a:tblGrid>
              <a:tr h="3594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Budget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</a:tr>
              <a:tr h="8039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Connector thank-you (10 × ₹50, paid at 15+ regs)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66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Referral prizes (₹300 / ₹200 / ₹100)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66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Paid test reserve (only if behind)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Buffer for UPI fees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2,000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12800" y="6238241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(Google Sheets, free Canva, free hosting) cost ₹0 · owners: me for content, connectors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1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funnel adds up to 507 (hypotheses)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17321"/>
          <a:ext cx="10556240" cy="1930400"/>
        </p:xfrm>
        <a:graphic>
          <a:graphicData uri="http://schemas.openxmlformats.org/drawingml/2006/table">
            <a:tbl>
              <a:tblPr/>
              <a:tblGrid>
                <a:gridCol w="2639060"/>
                <a:gridCol w="2639060"/>
                <a:gridCol w="2639060"/>
                <a:gridCol w="263906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Channel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Reach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Conversion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Registrations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A. WhatsApp connectors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5,000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5%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 Clubs and communities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3,500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4%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C. Referral loop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390 first-wave × 25% share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 sign-ups each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117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1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507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5975" y="3579495"/>
            <a:ext cx="3397250" cy="1488123"/>
          </a:xfrm>
          <a:prstGeom prst="roundRect">
            <a:avLst>
              <a:gd name="adj" fmla="val 6614"/>
            </a:avLst>
          </a:prstGeom>
          <a:solidFill>
            <a:srgbClr val="FFFFFF"/>
          </a:solidFill>
          <a:ln w="6350">
            <a:solidFill>
              <a:srgbClr val="E3E5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6480" y="3810000"/>
            <a:ext cx="30243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Behind at Day 4 (under 270)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46480" y="4142741"/>
            <a:ext cx="3024327" cy="719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41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the ₹800 paid test, add 5 connectors in colleges with zero sign-ups.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397375" y="3579495"/>
            <a:ext cx="3397250" cy="1488123"/>
          </a:xfrm>
          <a:prstGeom prst="roundRect">
            <a:avLst>
              <a:gd name="adj" fmla="val 6614"/>
            </a:avLst>
          </a:prstGeom>
          <a:solidFill>
            <a:srgbClr val="FFFFFF"/>
          </a:solidFill>
          <a:ln w="6350">
            <a:solidFill>
              <a:srgbClr val="E3E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27880" y="3810000"/>
            <a:ext cx="30243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Behind at Day 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27880" y="4142741"/>
            <a:ext cx="3024327" cy="719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41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to deadline urgency and ask the top connectors for one more group push.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978775" y="3579495"/>
            <a:ext cx="3397250" cy="1488123"/>
          </a:xfrm>
          <a:prstGeom prst="roundRect">
            <a:avLst>
              <a:gd name="adj" fmla="val 6614"/>
            </a:avLst>
          </a:prstGeom>
          <a:solidFill>
            <a:srgbClr val="FFFFFF"/>
          </a:solidFill>
          <a:ln w="6350">
            <a:solidFill>
              <a:srgbClr val="E3E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09280" y="3810000"/>
            <a:ext cx="30243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Ahead of pace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09280" y="4142741"/>
            <a:ext cx="3024327" cy="488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41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 the paid reserve and spend effort on the reminders instead.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12800" y="6238239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 and conversion rates are my assumptions; I have no NxtWave audience data. Replace them after the first 48 hours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EC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asset: Workshop Launchpad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07161"/>
            <a:ext cx="11379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Full-stack referral tracking, live student registration gateway, and automated pacing engine. Production-grade demonstrable application with end-to-end attribution.</a:t>
            </a:r>
          </a:p>
        </p:txBody>
      </p:sp>
      <p:sp>
        <p:nvSpPr>
          <p:cNvPr id="4" name="Shape 2"/>
          <p:cNvSpPr/>
          <p:nvPr/>
        </p:nvSpPr>
        <p:spPr>
          <a:xfrm>
            <a:off x="815975" y="1905636"/>
            <a:ext cx="3397250" cy="1488123"/>
          </a:xfrm>
          <a:prstGeom prst="roundRect">
            <a:avLst>
              <a:gd name="adj" fmla="val 6614"/>
            </a:avLst>
          </a:prstGeom>
          <a:solidFill>
            <a:srgbClr val="1F2347"/>
          </a:solidFill>
          <a:ln w="6350">
            <a:solidFill>
              <a:srgbClr val="2B2F5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6480" y="2136139"/>
            <a:ext cx="30243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A5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Studio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6480" y="2468882"/>
            <a:ext cx="3024327" cy="719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EC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a unique code, tracked URL and ready WhatsApp message per connector, club or student.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7375" y="1905636"/>
            <a:ext cx="3397250" cy="1488123"/>
          </a:xfrm>
          <a:prstGeom prst="roundRect">
            <a:avLst>
              <a:gd name="adj" fmla="val 6614"/>
            </a:avLst>
          </a:prstGeom>
          <a:solidFill>
            <a:srgbClr val="1F2347"/>
          </a:solidFill>
          <a:ln w="6350">
            <a:solidFill>
              <a:srgbClr val="2B2F5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27880" y="2136139"/>
            <a:ext cx="30243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A5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27880" y="2468882"/>
            <a:ext cx="3024327" cy="719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EC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 vs target by day, channel split, leaderboard and an automatic fallback alert under 90% of pace.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78775" y="1905636"/>
            <a:ext cx="3397250" cy="1488123"/>
          </a:xfrm>
          <a:prstGeom prst="roundRect">
            <a:avLst>
              <a:gd name="adj" fmla="val 6614"/>
            </a:avLst>
          </a:prstGeom>
          <a:solidFill>
            <a:srgbClr val="1F2347"/>
          </a:solidFill>
          <a:ln w="6350">
            <a:solidFill>
              <a:srgbClr val="2B2F5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09280" y="2136139"/>
            <a:ext cx="30243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A5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Funnel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09280" y="2468882"/>
            <a:ext cx="3024327" cy="719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EC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Editable reach and conversion inputs that show whether the plan still reaches 500.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2800" y="3625534"/>
            <a:ext cx="11379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C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Success: 90%+ of registrations carry a code · pace gap visible daily · 25% share rate · about ₹4 per registration (₹2,000 ÷ 500)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Live Local Demo: http://localhost:3000/ | Standalone HTML: index.html (Zero-dependency Node server &amp; REST API)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wth Plan: 500 Registrations in 7 Days">
  <a:themeElements>
    <a:clrScheme name="Growth Plan: 500 Registrations in 7 Days">
      <a:dk1>
        <a:srgbClr val="14162B"/>
      </a:dk1>
      <a:lt1>
        <a:srgbClr val="F6F4EE"/>
      </a:lt1>
      <a:dk2>
        <a:srgbClr val="4D4E5C"/>
      </a:dk2>
      <a:lt2>
        <a:srgbClr val="DFDEDB"/>
      </a:lt2>
      <a:accent1>
        <a:srgbClr val="F5A524"/>
      </a:accent1>
      <a:accent2>
        <a:srgbClr val="1F2347"/>
      </a:accent2>
      <a:accent3>
        <a:srgbClr val="4F46E5"/>
      </a:accent3>
      <a:accent4>
        <a:srgbClr val="5B5F78"/>
      </a:accent4>
      <a:accent5>
        <a:srgbClr val="9A9FBD"/>
      </a:accent5>
      <a:accent6>
        <a:srgbClr val="9AA0A6"/>
      </a:accent6>
      <a:hlink>
        <a:srgbClr val="0563C1"/>
      </a:hlink>
      <a:folHlink>
        <a:srgbClr val="954F72"/>
      </a:folHlink>
    </a:clrScheme>
    <a:fontScheme name="Growth Plan: 500 Registrations in 7 Days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Plan: 500 Registrations in 7 Days</dc:title>
  <dc:subject/>
  <dc:creator/>
  <cp:lastModifiedBy/>
  <cp:revision>1</cp:revision>
  <dcterms:created xsi:type="dcterms:W3CDTF">2026-10-28T16:16:43Z</dcterms:created>
  <dcterms:modified xsi:type="dcterms:W3CDTF">2026-10-28T16:16:43Z</dcterms:modified>
</cp:coreProperties>
</file>